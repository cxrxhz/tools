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High Thermal Conductivity and Biocompatibility Silk Fibroin Hydrogels Filled with CDs@BNOH for Body Surface Cooling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ACS Applied Materials &amp; Interfaces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881360" cy="21945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Course overview</a:t>
            </a:r>
          </a:p>
          <a:p>
            <a:pPr>
              <a:defRPr sz="1400">
                <a:latin typeface="Arial"/>
              </a:defRPr>
            </a:pPr>
            <a:r>
              <a:t>Carbon-dot-modified hydroxylated BN is embedded into a silk hydrogel patch to balance thermal conduction, UV handling, biodegradability and skin-contact cooling.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10881360" cy="10972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Source</a:t>
            </a:r>
          </a:p>
          <a:p>
            <a:pPr>
              <a:defRPr sz="1400">
                <a:latin typeface="Arial"/>
              </a:defRPr>
            </a:pPr>
            <a:r>
              <a:t>https://pubs.acs.org/doi/10.1021/acsami.5c09260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汇报提纲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Outline</a:t>
            </a:r>
          </a:p>
          <a:p>
            <a:pPr>
              <a:defRPr sz="1400">
                <a:latin typeface="Arial"/>
              </a:defRPr>
            </a:pPr>
            <a:r>
              <a:t>1. 问题与动机</a:t>
            </a:r>
            <a:br/>
            <a:r>
              <a:t>2. 发展脉络</a:t>
            </a:r>
            <a:br/>
            <a:r>
              <a:t>3. 方法对比</a:t>
            </a:r>
            <a:br/>
            <a:r>
              <a:t>4. 本文方法</a:t>
            </a:r>
            <a:br/>
            <a:r>
              <a:t>5. 实验结果</a:t>
            </a:r>
            <a:br/>
            <a:r>
              <a:t>6. 局限与展望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研究背景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Why it matters</a:t>
            </a:r>
          </a:p>
          <a:p>
            <a:pPr>
              <a:defRPr sz="1400">
                <a:latin typeface="Arial"/>
              </a:defRPr>
            </a:pPr>
            <a:r>
              <a:t>Wearable cooling needs a matrix that is biocompatible, degradable and thermally useful.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Main bottleneck</a:t>
            </a:r>
          </a:p>
          <a:p>
            <a:pPr>
              <a:defRPr sz="1400">
                <a:latin typeface="Arial"/>
              </a:defRPr>
            </a:pPr>
            <a:r>
              <a:t>Many conductive fillers are good conductors but poor skin-contact materials without surface engineering.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Core idea</a:t>
            </a:r>
          </a:p>
          <a:p>
            <a:pPr>
              <a:defRPr sz="1400">
                <a:latin typeface="Arial"/>
              </a:defRPr>
            </a:pPr>
            <a:r>
              <a:t>Hydroxylated BN is further modified by carbon quantum dots to improve phonon transport and UV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发展脉络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Timeline</a:t>
            </a:r>
          </a:p>
          <a:p>
            <a:pPr>
              <a:defRPr sz="1400">
                <a:latin typeface="Arial"/>
              </a:defRPr>
            </a:pPr>
            <a:r>
              <a:t>2020 · Wearable passive cooling — Hydrogels and textiles begin to merge with cooling goals.</a:t>
            </a:r>
            <a:br/>
            <a:r>
              <a:t>2022 · Biocompatible gels — Skin-contact materials become a major design target.</a:t>
            </a:r>
            <a:br/>
            <a:r>
              <a:t>2024 · BNNS/SF cooling films — Film-type alignment and radiative cooling are proven.</a:t>
            </a:r>
            <a:br/>
            <a:r>
              <a:t>2025 · CDs@BNOH/SilMA — This work adds surface engineering and degradable hydrogel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Benchmark 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77824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Weaknesses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Commercial H2O@PAAS 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 and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Depends heavily on evaporation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Pure SilMA hydrogel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Soft and biobased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Thermal conductivity is modest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BNOH/SilMA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conduction than pure 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interface engineering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CDs@BNOH/SilMA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balance 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Long-term wear still needs more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方法流程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1. Prepare CDs</a:t>
            </a:r>
          </a:p>
          <a:p>
            <a:pPr>
              <a:defRPr sz="1400">
                <a:latin typeface="Arial"/>
              </a:defRPr>
            </a:pPr>
            <a:r>
              <a:t>Make carbon quantum dots from urea/citrate precursors.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2. Build CDs@BNOH</a:t>
            </a:r>
          </a:p>
          <a:p>
            <a:pPr>
              <a:defRPr sz="1400">
                <a:latin typeface="Arial"/>
              </a:defRPr>
            </a:pPr>
            <a:r>
              <a:t>Functionalize hydroxylated BN with CDs to tune the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63239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3. Make SilMA</a:t>
            </a:r>
          </a:p>
          <a:p>
            <a:pPr>
              <a:defRPr sz="1400">
                <a:latin typeface="Arial"/>
              </a:defRPr>
            </a:pPr>
            <a:r>
              <a:t>Methacrylate-modify silk fibroin for UV-curable gelation.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11064240" cy="713232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4. Infuse patch</a:t>
            </a:r>
          </a:p>
          <a:p>
            <a:pPr>
              <a:defRPr sz="1400">
                <a:latin typeface="Arial"/>
              </a:defRPr>
            </a:pPr>
            <a:r>
              <a:t>Load the filler into cotton-supported gel and cure into a wearable patch.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核心公式与机理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12344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Formula</a:t>
            </a:r>
          </a:p>
          <a:p>
            <a:pPr>
              <a:defRPr sz="1400">
                <a:latin typeface="Arial"/>
              </a:defRPr>
            </a:pPr>
            <a:r>
              <a:t>Proper CDs modification improves phonon transport; too much coating disrupts the BN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155680" cy="2651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Interpretation</a:t>
            </a:r>
          </a:p>
          <a:p>
            <a:pPr>
              <a:defRPr sz="1400">
                <a:latin typeface="Arial"/>
              </a:defRPr>
            </a:pPr>
            <a:r>
              <a:t>fwhm — Raman linewidth used as a phonon-lifetime indicator</a:t>
            </a:r>
            <a:br/>
            <a:r>
              <a:t>D% — degradation fraction of the hydrogel</a:t>
            </a:r>
            <a:br/>
            <a:r>
              <a:t>ΔT — surface cooling effect relative to blank</a:t>
            </a:r>
            <a:br/>
            <a:r>
              <a:t>λ — patch thermal conductivity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核心结果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0.77 W m−1 K−1</a:t>
            </a:r>
          </a:p>
          <a:p>
            <a:pPr>
              <a:defRPr sz="1400">
                <a:latin typeface="Arial"/>
              </a:defRPr>
            </a:pPr>
            <a:r>
              <a:t>patch thermal conductivity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15.38%</a:t>
            </a:r>
          </a:p>
          <a:p>
            <a:pPr>
              <a:defRPr sz="1400">
                <a:latin typeface="Arial"/>
              </a:defRPr>
            </a:pPr>
            <a:r>
              <a:t>overall conductivity increase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004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6.6 °C</a:t>
            </a:r>
          </a:p>
          <a:p>
            <a:pPr>
              <a:defRPr sz="1400">
                <a:latin typeface="Arial"/>
              </a:defRPr>
            </a:pPr>
            <a:r>
              <a:t>cooling improvement vs.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440680" cy="146304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10 °C+</a:t>
            </a:r>
          </a:p>
          <a:p>
            <a:pPr>
              <a:defRPr sz="1400">
                <a:latin typeface="Arial"/>
              </a:defRPr>
            </a:pPr>
            <a:r>
              <a:t>indoor scenario peak cooling effect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相对表现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BNOH/SilMA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417320"/>
            <a:ext cx="6841540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CDs@BNOH/SilMA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2240280"/>
            <a:ext cx="7955279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Commercial 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3063240"/>
            <a:ext cx="4375403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UV shielding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886200"/>
            <a:ext cx="7159751" cy="256032"/>
          </a:xfrm>
          <a:prstGeom prst="rect">
            <a:avLst/>
          </a:prstGeom>
          <a:solidFill>
            <a:srgbClr val="D9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实验与验证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Method validation</a:t>
            </a:r>
          </a:p>
          <a:p>
            <a:pPr>
              <a:defRPr sz="1400">
                <a:latin typeface="Arial"/>
              </a:defRPr>
            </a:pPr>
            <a:r>
              <a:t>Structure, thermal and cooling behavior are all checked.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Indoor tests</a:t>
            </a:r>
          </a:p>
          <a:p>
            <a:pPr>
              <a:defRPr sz="1400">
                <a:latin typeface="Arial"/>
              </a:defRPr>
            </a:pPr>
            <a:r>
              <a:t>Simulated skin and wearable scenarios are 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Outdoor tests</a:t>
            </a:r>
          </a:p>
          <a:p>
            <a:pPr>
              <a:defRPr sz="1400">
                <a:latin typeface="Arial"/>
              </a:defRPr>
            </a:pPr>
            <a:r>
              <a:t>Sunlight or environment are incorporated when relevant.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Stability</a:t>
            </a:r>
          </a:p>
          <a:p>
            <a:pPr>
              <a:defRPr sz="1400">
                <a:latin typeface="Arial"/>
              </a:defRPr>
            </a:pPr>
            <a:r>
              <a:t>Cycle, wetting or degradation are quantified.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Heat transfer</a:t>
            </a:r>
          </a:p>
          <a:p>
            <a:pPr>
              <a:defRPr sz="1400">
                <a:latin typeface="Arial"/>
              </a:defRPr>
            </a:pPr>
            <a:r>
              <a:t>The filler network changes phonon pathways and heat spreading.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Interface control</a:t>
            </a:r>
          </a:p>
          <a:p>
            <a:pPr>
              <a:defRPr sz="1400">
                <a:latin typeface="Arial"/>
              </a:defRPr>
            </a:pPr>
            <a:r>
              <a:t>Surface chemistry decides whether the network remains useful.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Key numbers to remember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77824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Main thermal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 W m−1 K−1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patch thermal conductivity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Secondary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overall conductivity increase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Cooling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cooling improvement vs. control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Durability /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°C+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indoor scenario peak cooling effect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Application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Skin contact</a:t>
            </a:r>
          </a:p>
          <a:p>
            <a:pPr>
              <a:defRPr sz="1400">
                <a:latin typeface="Arial"/>
              </a:defRPr>
            </a:pPr>
            <a:r>
              <a:t>Wearable patches and body surface cooling.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Bioelectronics</a:t>
            </a:r>
          </a:p>
          <a:p>
            <a:pPr>
              <a:defRPr sz="1400">
                <a:latin typeface="Arial"/>
              </a:defRPr>
            </a:pPr>
            <a:r>
              <a:t>Heat removal from LEDs or soft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Textiles / films</a:t>
            </a:r>
          </a:p>
          <a:p>
            <a:pPr>
              <a:defRPr sz="1400">
                <a:latin typeface="Arial"/>
              </a:defRPr>
            </a:pPr>
            <a:r>
              <a:t>Large-area passive heat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2900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Reusable settings</a:t>
            </a:r>
          </a:p>
          <a:p>
            <a:pPr>
              <a:defRPr sz="1400">
                <a:latin typeface="Arial"/>
              </a:defRPr>
            </a:pPr>
            <a:r>
              <a:t>Washing, cycling or reuse depending on the paper.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局限与展望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57784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Current limitations</a:t>
            </a:r>
          </a:p>
          <a:p>
            <a:pPr>
              <a:defRPr sz="1400">
                <a:latin typeface="Arial"/>
              </a:defRPr>
            </a:pPr>
            <a:r>
              <a:t>- Conductivity is still below the best film-type BNNS systems.</a:t>
            </a:r>
            <a:br/>
            <a:r>
              <a:t>- Outdoor performance depends on contact and ambient conditions.</a:t>
            </a:r>
            <a:br/>
            <a:r>
              <a:t>- Long-term wear tests are still limited.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57784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Future work</a:t>
            </a:r>
          </a:p>
          <a:p>
            <a:pPr>
              <a:defRPr sz="1400">
                <a:latin typeface="Arial"/>
              </a:defRPr>
            </a:pPr>
            <a:r>
              <a:t>- Quantify comfort under sweat, motion and repeated bending.</a:t>
            </a:r>
            <a:br/>
            <a:r>
              <a:t>- Optimize CDs loading to keep the BN phonon network intact.</a:t>
            </a:r>
            <a:br/>
            <a:r>
              <a:t>- Explore device integration for wearable electronics.</a:t>
            </a:r>
            <a:br/>
            <a:r>
              <a:t>- Test other biodegradable matrices and patch geometries.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155680" cy="493776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Summary</a:t>
            </a:r>
          </a:p>
          <a:p>
            <a:pPr>
              <a:defRPr sz="1400">
                <a:latin typeface="Arial"/>
              </a:defRPr>
            </a:pPr>
            <a:r>
              <a:t>Carbon-dot-modified hydroxylated BN is embedded into a silk hydrogel patch to balance thermal conduction, UV handling, biodegradability and skin-contact cooling.</a:t>
            </a:r>
            <a:br/>
            <a:r>
              <a:t>The main design principle is to align filler geometry, interfacial chemistry and matrix choice with the target cooling mode.</a:t>
            </a:r>
            <a:br/>
            <a:r>
              <a:t>Source: https://pubs.acs.org/doi/10.1021/acsami.5c09260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DOI</a:t>
            </a:r>
          </a:p>
          <a:p>
            <a:pPr>
              <a:defRPr sz="1400">
                <a:latin typeface="Arial"/>
              </a:defRPr>
            </a:pPr>
            <a:r>
              <a:t>10.1021/acsami.5c09260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1783080"/>
          </a:xfrm>
          <a:prstGeom prst="roundRect">
            <a:avLst/>
          </a:prstGeom>
          <a:solidFill>
            <a:srgbClr val="FFFAF4"/>
          </a:solidFill>
          <a:ln>
            <a:solidFill>
              <a:srgbClr val="EA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94F30"/>
                </a:solidFill>
                <a:latin typeface="Arial"/>
              </a:rPr>
              <a:t>Article page</a:t>
            </a:r>
          </a:p>
          <a:p>
            <a:pPr>
              <a:defRPr sz="1400">
                <a:latin typeface="Arial"/>
              </a:defRPr>
            </a:pPr>
            <a:r>
              <a:t>https://pubs.acs.org/doi/10.1021/acsami.5c09260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