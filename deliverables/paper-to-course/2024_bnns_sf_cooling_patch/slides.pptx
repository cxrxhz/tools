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High Thermal Conductivity and Radiative Cooling Designed Boron Nitride Nanosheets/Silk Fibroin Films for Personal Thermal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945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Course overview</a:t>
            </a:r>
          </a:p>
          <a:p>
            <a:pPr>
              <a:defRPr sz="1400">
                <a:latin typeface="Arial"/>
              </a:defRPr>
            </a:pPr>
            <a:r>
              <a:t>BNNS and silk fibroin are combined into an aligned, reusable cooling film that balances heat spreading, radiative cooling and skin compatibility.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881360" cy="10972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Source</a:t>
            </a:r>
          </a:p>
          <a:p>
            <a:pPr>
              <a:defRPr sz="1400">
                <a:latin typeface="Arial"/>
              </a:defRPr>
            </a:pPr>
            <a:r>
              <a:t>https://pubs.acs.org/doi/10.1021/acsami.3c16602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Outline</a:t>
            </a:r>
          </a:p>
          <a:p>
            <a:pPr>
              <a:defRPr sz="1400">
                <a:latin typeface="Arial"/>
              </a:defRPr>
            </a:pPr>
            <a:r>
              <a:t>1. 问题与动机</a:t>
            </a:r>
            <a:br/>
            <a:r>
              <a:t>2. 发展脉络</a:t>
            </a:r>
            <a:br/>
            <a:r>
              <a:t>3. 方法对比</a:t>
            </a:r>
            <a:br/>
            <a:r>
              <a:t>4. 本文方法</a:t>
            </a:r>
            <a:br/>
            <a:r>
              <a:t>5. 实验结果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Why it matters</a:t>
            </a:r>
          </a:p>
          <a:p>
            <a:pPr>
              <a:defRPr sz="1400">
                <a:latin typeface="Arial"/>
              </a:defRPr>
            </a:pPr>
            <a:r>
              <a:t>Cooling is energy intensive, so passive skin-contact cooling is a practical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Main bottleneck</a:t>
            </a:r>
          </a:p>
          <a:p>
            <a:pPr>
              <a:defRPr sz="1400">
                <a:latin typeface="Arial"/>
              </a:defRPr>
            </a:pPr>
            <a:r>
              <a:t>Pure silk is biocompatible but not conductive enough for rapid heat dissipation.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Core idea</a:t>
            </a:r>
          </a:p>
          <a:p>
            <a:pPr>
              <a:defRPr sz="1400">
                <a:latin typeface="Arial"/>
              </a:defRPr>
            </a:pPr>
            <a:r>
              <a:t>Use BNNS as a directional heat spreader and silk fibroin as a durable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发展脉络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Timeline</a:t>
            </a:r>
          </a:p>
          <a:p>
            <a:pPr>
              <a:defRPr sz="1400">
                <a:latin typeface="Arial"/>
              </a:defRPr>
            </a:pPr>
            <a:r>
              <a:t>2012 · Silk thermal transport — Silk becomes a serious thermal-material candidate.</a:t>
            </a:r>
            <a:br/>
            <a:r>
              <a:t>2017 · BNNS composite films — Oriented BN starts to dominate in-plane heat flow.</a:t>
            </a:r>
            <a:br/>
            <a:r>
              <a:t>2020 · Wearable passive cooling — Textiles and films converge for body cooling.</a:t>
            </a:r>
            <a:br/>
            <a:r>
              <a:t>2024 · BNNS/SF film — The paper integrates alignment, reflectance and biocompatibility.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Benchmark 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Weaknesses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Pure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Biobased and 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transport is too low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Graphene textiles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conduction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Wearability and outdoor cooling tradeoffs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BNNS polymer films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anisotropic heat spreading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skin-friendly matrix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BNNS/SF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Aligned, reusable, biocompatible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filler loading may reduce softness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方法流程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1. Prepare BNNS</a:t>
            </a:r>
          </a:p>
          <a:p>
            <a:pPr>
              <a:defRPr sz="1400">
                <a:latin typeface="Arial"/>
              </a:defRPr>
            </a:pPr>
            <a:r>
              <a:t>Exfoliate h-BN into nanosheets without losing the platelet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2. Mix with SF</a:t>
            </a:r>
          </a:p>
          <a:p>
            <a:pPr>
              <a:defRPr sz="1400">
                <a:latin typeface="Arial"/>
              </a:defRPr>
            </a:pPr>
            <a:r>
              <a:t>Combine with silk fibroin before vacuum filtration.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39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3. Build alignment</a:t>
            </a:r>
          </a:p>
          <a:p>
            <a:pPr>
              <a:defRPr sz="1400">
                <a:latin typeface="Arial"/>
              </a:defRPr>
            </a:pPr>
            <a:r>
              <a:t>Layer-by-layer stacking forms a directional thermal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4. Validate</a:t>
            </a:r>
          </a:p>
          <a:p>
            <a:pPr>
              <a:defRPr sz="1400">
                <a:latin typeface="Arial"/>
              </a:defRPr>
            </a:pPr>
            <a:r>
              <a:t>Measure thermal conductivity, reflectance, emissivity and biosafety.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核心公式与机理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12344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Formula</a:t>
            </a:r>
          </a:p>
          <a:p>
            <a:pPr>
              <a:defRPr sz="1400">
                <a:latin typeface="Arial"/>
              </a:defRPr>
            </a:pPr>
            <a:r>
              <a:t>λ = α × ρ × Cp; TCE = (λcomposite - λSF) / λSF ×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155680" cy="2651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Interpretation</a:t>
            </a:r>
          </a:p>
          <a:p>
            <a:pPr>
              <a:defRPr sz="1400">
                <a:latin typeface="Arial"/>
              </a:defRPr>
            </a:pPr>
            <a:r>
              <a:t>λ — effective thermal conductivity</a:t>
            </a:r>
            <a:br/>
            <a:r>
              <a:t>α — thermal diffusivity</a:t>
            </a:r>
            <a:br/>
            <a:r>
              <a:t>ρ — density</a:t>
            </a:r>
            <a:br/>
            <a:r>
              <a:t>Cp — specific heat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27.58 W m−1 K−1</a:t>
            </a:r>
          </a:p>
          <a:p>
            <a:pPr>
              <a:defRPr sz="1400">
                <a:latin typeface="Arial"/>
              </a:defRPr>
            </a:pPr>
            <a:r>
              <a:t>in-plane thermal conductivity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1.77 W m−1 K−1</a:t>
            </a:r>
          </a:p>
          <a:p>
            <a:pPr>
              <a:defRPr sz="1400">
                <a:latin typeface="Arial"/>
              </a:defRPr>
            </a:pPr>
            <a:r>
              <a:t>out-of-plane thermal conductivity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0.89</a:t>
            </a:r>
          </a:p>
          <a:p>
            <a:pPr>
              <a:defRPr sz="1400">
                <a:latin typeface="Arial"/>
              </a:defRPr>
            </a:pPr>
            <a:r>
              <a:t>solar reflectance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0.84</a:t>
            </a:r>
          </a:p>
          <a:p>
            <a:pPr>
              <a:defRPr sz="1400">
                <a:latin typeface="Arial"/>
              </a:defRPr>
            </a:pPr>
            <a:r>
              <a:t>LWIR emissivity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相对表现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Pure SF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417320"/>
            <a:ext cx="636422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BNNS/SF 50 wt%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240280"/>
            <a:ext cx="7955279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Indoor cooling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063240"/>
            <a:ext cx="7318857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Outdoor cooling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886200"/>
            <a:ext cx="6761987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实验与验证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Method validation</a:t>
            </a:r>
          </a:p>
          <a:p>
            <a:pPr>
              <a:defRPr sz="1400">
                <a:latin typeface="Arial"/>
              </a:defRPr>
            </a:pPr>
            <a:r>
              <a:t>Structure, thermal and cooling behavior are all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Indoor tests</a:t>
            </a:r>
          </a:p>
          <a:p>
            <a:pPr>
              <a:defRPr sz="1400">
                <a:latin typeface="Arial"/>
              </a:defRPr>
            </a:pPr>
            <a:r>
              <a:t>Simulated skin and wearable scenarios are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Outdoor tests</a:t>
            </a:r>
          </a:p>
          <a:p>
            <a:pPr>
              <a:defRPr sz="1400">
                <a:latin typeface="Arial"/>
              </a:defRPr>
            </a:pPr>
            <a:r>
              <a:t>Sunlight or environment are incorporated when relevant.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Stability</a:t>
            </a:r>
          </a:p>
          <a:p>
            <a:pPr>
              <a:defRPr sz="1400">
                <a:latin typeface="Arial"/>
              </a:defRPr>
            </a:pPr>
            <a:r>
              <a:t>Cycle, wetting or degradation are quantified.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Heat transfer</a:t>
            </a:r>
          </a:p>
          <a:p>
            <a:pPr>
              <a:defRPr sz="1400">
                <a:latin typeface="Arial"/>
              </a:defRPr>
            </a:pPr>
            <a:r>
              <a:t>The filler network changes phonon pathways and heat spreading.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Interface control</a:t>
            </a:r>
          </a:p>
          <a:p>
            <a:pPr>
              <a:defRPr sz="1400">
                <a:latin typeface="Arial"/>
              </a:defRPr>
            </a:pPr>
            <a:r>
              <a:t>Surface chemistry decides whether the network remains useful.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Key numbers to remember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Main thermal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27.58 W m−1 K−1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in-plane thermal conductivity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Secondary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1.77 W m−1 K−1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out-of-plane thermal conductivity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Cooling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solar reflectance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Durability /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LWIR emissivity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Application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Skin contact</a:t>
            </a:r>
          </a:p>
          <a:p>
            <a:pPr>
              <a:defRPr sz="1400">
                <a:latin typeface="Arial"/>
              </a:defRPr>
            </a:pPr>
            <a:r>
              <a:t>Wearable patches and body surface cooling.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Bioelectronics</a:t>
            </a:r>
          </a:p>
          <a:p>
            <a:pPr>
              <a:defRPr sz="1400">
                <a:latin typeface="Arial"/>
              </a:defRPr>
            </a:pPr>
            <a:r>
              <a:t>Heat removal from LEDs or soft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Textiles / films</a:t>
            </a:r>
          </a:p>
          <a:p>
            <a:pPr>
              <a:defRPr sz="1400">
                <a:latin typeface="Arial"/>
              </a:defRPr>
            </a:pPr>
            <a:r>
              <a:t>Large-area passive heat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Reusable settings</a:t>
            </a:r>
          </a:p>
          <a:p>
            <a:pPr>
              <a:defRPr sz="1400">
                <a:latin typeface="Arial"/>
              </a:defRPr>
            </a:pPr>
            <a:r>
              <a:t>Washing, cycling or reuse depending on the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局限与展望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Current limitations</a:t>
            </a:r>
          </a:p>
          <a:p>
            <a:pPr>
              <a:defRPr sz="1400">
                <a:latin typeface="Arial"/>
              </a:defRPr>
            </a:pPr>
            <a:r>
              <a:t>- Very high filler loading may reduce softness.</a:t>
            </a:r>
            <a:br/>
            <a:r>
              <a:t>- Large-area alignment is harder to scale.</a:t>
            </a:r>
            <a:br/>
            <a:r>
              <a:t>- Wear, sweat and washing need broader field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Future work</a:t>
            </a:r>
          </a:p>
          <a:p>
            <a:pPr>
              <a:defRPr sz="1400">
                <a:latin typeface="Arial"/>
              </a:defRPr>
            </a:pPr>
            <a:r>
              <a:t>- Optimize interfacial chemistry to reduce phonon scattering.</a:t>
            </a:r>
            <a:br/>
            <a:r>
              <a:t>- Develop roll-to-roll or other scalable alignment routes.</a:t>
            </a:r>
            <a:br/>
            <a:r>
              <a:t>- Test laundering and fatigue under realistic clothing conditions.</a:t>
            </a:r>
            <a:br/>
            <a:r>
              <a:t>- Co-design with textile architectures for all-day comfort.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Summary</a:t>
            </a:r>
          </a:p>
          <a:p>
            <a:pPr>
              <a:defRPr sz="1400">
                <a:latin typeface="Arial"/>
              </a:defRPr>
            </a:pPr>
            <a:r>
              <a:t>BNNS and silk fibroin are combined into an aligned, reusable cooling film that balances heat spreading, radiative cooling and skin compatibility.</a:t>
            </a:r>
            <a:br/>
            <a:r>
              <a:t>The main design principle is to align filler geometry, interfacial chemistry and matrix choice with the target cooling mode.</a:t>
            </a:r>
            <a:br/>
            <a:r>
              <a:t>Source: https://pubs.acs.org/doi/10.1021/acsami.3c16602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DOI</a:t>
            </a:r>
          </a:p>
          <a:p>
            <a:pPr>
              <a:defRPr sz="1400">
                <a:latin typeface="Arial"/>
              </a:defRPr>
            </a:pPr>
            <a:r>
              <a:t>10.1021/acsami.3c16602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Article page</a:t>
            </a:r>
          </a:p>
          <a:p>
            <a:pPr>
              <a:defRPr sz="1400">
                <a:latin typeface="Arial"/>
              </a:defRPr>
            </a:pPr>
            <a:r>
              <a:t>https://pubs.acs.org/doi/10.1021/acsami.3c16602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