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Electrospun Silk-Boron Nitride Nanofibers with Tunable Structure and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Polymers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21945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Course overview</a:t>
            </a:r>
          </a:p>
          <a:p>
            <a:pPr>
              <a:defRPr sz="1400">
                <a:latin typeface="Arial"/>
              </a:defRPr>
            </a:pPr>
            <a:r>
              <a:t>h-BN changes the morphology, secondary structure and thermal stability of electrospun silk fibers, making them more tunable for biofriendly composite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10881360" cy="10972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Source</a:t>
            </a:r>
          </a:p>
          <a:p>
            <a:pPr>
              <a:defRPr sz="1400">
                <a:latin typeface="Arial"/>
              </a:defRPr>
            </a:pPr>
            <a:r>
              <a:t>https://www.mdpi.com/2073-4360/12/5/1093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汇报提纲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Outline</a:t>
            </a:r>
          </a:p>
          <a:p>
            <a:pPr>
              <a:defRPr sz="1400">
                <a:latin typeface="Arial"/>
              </a:defRPr>
            </a:pPr>
            <a:r>
              <a:t>1. 问题与动机</a:t>
            </a:r>
            <a:br/>
            <a:r>
              <a:t>2. 发展脉络</a:t>
            </a:r>
            <a:br/>
            <a:r>
              <a:t>3. 方法对比</a:t>
            </a:r>
            <a:br/>
            <a:r>
              <a:t>4. 本文方法</a:t>
            </a:r>
            <a:br/>
            <a:r>
              <a:t>5. 实验结果</a:t>
            </a:r>
            <a:br/>
            <a:r>
              <a:t>6. 局限与展望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研究背景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Why it matters</a:t>
            </a:r>
          </a:p>
          <a:p>
            <a:pPr>
              <a:defRPr sz="1400">
                <a:latin typeface="Arial"/>
              </a:defRPr>
            </a:pPr>
            <a:r>
              <a:t>Electrospun silk can be made into porous mats, but its thermal and structural stability still needs help.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Main bottleneck</a:t>
            </a:r>
          </a:p>
          <a:p>
            <a:pPr>
              <a:defRPr sz="1400">
                <a:latin typeface="Arial"/>
              </a:defRPr>
            </a:pPr>
            <a:r>
              <a:t>A filler must reinforce the protein matrix without destroying processability.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Core idea</a:t>
            </a:r>
          </a:p>
          <a:p>
            <a:pPr>
              <a:defRPr sz="1400">
                <a:latin typeface="Arial"/>
              </a:defRPr>
            </a:pPr>
            <a:r>
              <a:t>Use h-BN nanosheets to tune fiber morphology, crosslinking and protein secondary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发展脉络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Timeline</a:t>
            </a:r>
          </a:p>
          <a:p>
            <a:pPr>
              <a:defRPr sz="1400">
                <a:latin typeface="Arial"/>
              </a:defRPr>
            </a:pPr>
            <a:r>
              <a:t>2003 · Electrospinning matures — Fiber morphology becomes controllable by process tuning.</a:t>
            </a:r>
            <a:br/>
            <a:r>
              <a:t>2010 · Silk biomaterials — Silk expands into scaffolds, dressings and devices.</a:t>
            </a:r>
            <a:br/>
            <a:r>
              <a:t>2015 · BN thermal fillers — BN becomes a major electrically insulating conductor filler.</a:t>
            </a:r>
            <a:br/>
            <a:r>
              <a:t>2020 · Silk-BN fibers — The paper maps how BN changes fiber structure and stability.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Benchmark 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77824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Weaknesses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Pure SF nanofibers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Smooth and biofriendly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thermal robustness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Low-BN BNSF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Modest reinforcement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High-BN BNSF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Rougher but more coupled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Excess loading may hurt texture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This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Tunable electrospun biohybrid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direct conductivity target reported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方法流程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1. Dissolve silk</a:t>
            </a:r>
          </a:p>
          <a:p>
            <a:pPr>
              <a:defRPr sz="1400">
                <a:latin typeface="Arial"/>
              </a:defRPr>
            </a:pPr>
            <a:r>
              <a:t>Prepare a formic-acid based spinning dope.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2. Add BN</a:t>
            </a:r>
          </a:p>
          <a:p>
            <a:pPr>
              <a:defRPr sz="1400">
                <a:latin typeface="Arial"/>
              </a:defRPr>
            </a:pPr>
            <a:r>
              <a:t>Mix h-BN at different loading ratios.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63239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3. Electrospin</a:t>
            </a:r>
          </a:p>
          <a:p>
            <a:pPr>
              <a:defRPr sz="1400">
                <a:latin typeface="Arial"/>
              </a:defRPr>
            </a:pPr>
            <a:r>
              <a:t>Form composite fibers with tunable diameter and packing.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4. Characterize</a:t>
            </a:r>
          </a:p>
          <a:p>
            <a:pPr>
              <a:defRPr sz="1400">
                <a:latin typeface="Arial"/>
              </a:defRPr>
            </a:pPr>
            <a:r>
              <a:t>Use SEM, FTIR, TGA and TM-DSC to map structure-property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核心公式与机理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12344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Formula</a:t>
            </a:r>
          </a:p>
          <a:p>
            <a:pPr>
              <a:defRPr sz="1400">
                <a:latin typeface="Arial"/>
              </a:defRPr>
            </a:pPr>
            <a:r>
              <a:t>Thermal stability is tracked by Tw, Tg and Td shifts after BN addition.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155680" cy="2651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Interpretation</a:t>
            </a:r>
          </a:p>
          <a:p>
            <a:pPr>
              <a:defRPr sz="1400">
                <a:latin typeface="Arial"/>
              </a:defRPr>
            </a:pPr>
            <a:r>
              <a:t>Tw — bound-water evaporation feature</a:t>
            </a:r>
            <a:br/>
            <a:r>
              <a:t>Tg — glass transition temperature</a:t>
            </a:r>
            <a:br/>
            <a:r>
              <a:t>Td — thermal degradation feature</a:t>
            </a:r>
            <a:br/>
            <a:r>
              <a:t>Diameter — morphology marker for electrospun mats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核心结果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800 nm</a:t>
            </a:r>
          </a:p>
          <a:p>
            <a:pPr>
              <a:defRPr sz="1400">
                <a:latin typeface="Arial"/>
              </a:defRPr>
            </a:pPr>
            <a:r>
              <a:t>approx. diameter of pure SF fibers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400-750 nm</a:t>
            </a:r>
          </a:p>
          <a:p>
            <a:pPr>
              <a:defRPr sz="1400">
                <a:latin typeface="Arial"/>
              </a:defRPr>
            </a:pPr>
            <a:r>
              <a:t>diameter range after BN addition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004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120 °C</a:t>
            </a:r>
          </a:p>
          <a:p>
            <a:pPr>
              <a:defRPr sz="1400">
                <a:latin typeface="Arial"/>
              </a:defRPr>
            </a:pPr>
            <a:r>
              <a:t>pure SF onset Tg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96 °C</a:t>
            </a:r>
          </a:p>
          <a:p>
            <a:pPr>
              <a:defRPr sz="1400">
                <a:latin typeface="Arial"/>
              </a:defRPr>
            </a:pPr>
            <a:r>
              <a:t>lowest Tg at 40% BN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相对表现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Pure SF Tg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417320"/>
            <a:ext cx="7955279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40% BNSF Tg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2240280"/>
            <a:ext cx="6364224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Residual mass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3063240"/>
            <a:ext cx="7318857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Morphology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886200"/>
            <a:ext cx="7000646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实验与验证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Method validation</a:t>
            </a:r>
          </a:p>
          <a:p>
            <a:pPr>
              <a:defRPr sz="1400">
                <a:latin typeface="Arial"/>
              </a:defRPr>
            </a:pPr>
            <a:r>
              <a:t>Structure, thermal and cooling behavior are all checked.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Indoor tests</a:t>
            </a:r>
          </a:p>
          <a:p>
            <a:pPr>
              <a:defRPr sz="1400">
                <a:latin typeface="Arial"/>
              </a:defRPr>
            </a:pPr>
            <a:r>
              <a:t>Simulated skin and wearable scenarios are 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Outdoor tests</a:t>
            </a:r>
          </a:p>
          <a:p>
            <a:pPr>
              <a:defRPr sz="1400">
                <a:latin typeface="Arial"/>
              </a:defRPr>
            </a:pPr>
            <a:r>
              <a:t>Sunlight or environment are incorporated when relevant.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Stability</a:t>
            </a:r>
          </a:p>
          <a:p>
            <a:pPr>
              <a:defRPr sz="1400">
                <a:latin typeface="Arial"/>
              </a:defRPr>
            </a:pPr>
            <a:r>
              <a:t>Cycle, wetting or degradation are quantified.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Heat transfer</a:t>
            </a:r>
          </a:p>
          <a:p>
            <a:pPr>
              <a:defRPr sz="1400">
                <a:latin typeface="Arial"/>
              </a:defRPr>
            </a:pPr>
            <a:r>
              <a:t>The filler network changes phonon pathways and heat spreading.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Interface control</a:t>
            </a:r>
          </a:p>
          <a:p>
            <a:pPr>
              <a:defRPr sz="1400">
                <a:latin typeface="Arial"/>
              </a:defRPr>
            </a:pPr>
            <a:r>
              <a:t>Surface chemistry decides whether the network remains useful.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Key numbers to remember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77824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Main thermal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approx. diameter of pure SF fibers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Secondary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400-750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diameter range after BN addition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Cooling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pure SF onset Tg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Durability /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lowest Tg at 40% BN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Application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Skin contact</a:t>
            </a:r>
          </a:p>
          <a:p>
            <a:pPr>
              <a:defRPr sz="1400">
                <a:latin typeface="Arial"/>
              </a:defRPr>
            </a:pPr>
            <a:r>
              <a:t>Wearable patches and body surface cooling.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Bioelectronics</a:t>
            </a:r>
          </a:p>
          <a:p>
            <a:pPr>
              <a:defRPr sz="1400">
                <a:latin typeface="Arial"/>
              </a:defRPr>
            </a:pPr>
            <a:r>
              <a:t>Heat removal from LEDs or soft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Textiles / films</a:t>
            </a:r>
          </a:p>
          <a:p>
            <a:pPr>
              <a:defRPr sz="1400">
                <a:latin typeface="Arial"/>
              </a:defRPr>
            </a:pPr>
            <a:r>
              <a:t>Large-area passive heat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Reusable settings</a:t>
            </a:r>
          </a:p>
          <a:p>
            <a:pPr>
              <a:defRPr sz="1400">
                <a:latin typeface="Arial"/>
              </a:defRPr>
            </a:pPr>
            <a:r>
              <a:t>Washing, cycling or reuse depending on the paper.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局限与展望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57784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Current limitations</a:t>
            </a:r>
          </a:p>
          <a:p>
            <a:pPr>
              <a:defRPr sz="1400">
                <a:latin typeface="Arial"/>
              </a:defRPr>
            </a:pPr>
            <a:r>
              <a:t>- The paper emphasizes structure tuning more than conductivity benchmarking.</a:t>
            </a:r>
            <a:br/>
            <a:r>
              <a:t>- Higher loading can roughen the fibers.</a:t>
            </a:r>
            <a:br/>
            <a:r>
              <a:t>- Biomedical validation remains prospective.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57784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Future work</a:t>
            </a:r>
          </a:p>
          <a:p>
            <a:pPr>
              <a:defRPr sz="1400">
                <a:latin typeface="Arial"/>
              </a:defRPr>
            </a:pPr>
            <a:r>
              <a:t>- Measure conductivity and anisotropy explicitly in aligned mats.</a:t>
            </a:r>
            <a:br/>
            <a:r>
              <a:t>- Link morphology tuning to cell response in wet environments.</a:t>
            </a:r>
            <a:br/>
            <a:r>
              <a:t>- Explore post-spinning annealing or stretching to amplify ordering.</a:t>
            </a:r>
            <a:br/>
            <a:r>
              <a:t>- Combine BN with additional benign fillers for multifunctionality.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Summary</a:t>
            </a:r>
          </a:p>
          <a:p>
            <a:pPr>
              <a:defRPr sz="1400">
                <a:latin typeface="Arial"/>
              </a:defRPr>
            </a:pPr>
            <a:r>
              <a:t>h-BN changes the morphology, secondary structure and thermal stability of electrospun silk fibers, making them more tunable for biofriendly composite use.</a:t>
            </a:r>
            <a:br/>
            <a:r>
              <a:t>The main design principle is to align filler geometry, interfacial chemistry and matrix choice with the target cooling mode.</a:t>
            </a:r>
            <a:br/>
            <a:r>
              <a:t>Source: https://www.mdpi.com/2073-4360/12/5/1093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DOI</a:t>
            </a:r>
          </a:p>
          <a:p>
            <a:pPr>
              <a:defRPr sz="1400">
                <a:latin typeface="Arial"/>
              </a:defRPr>
            </a:pPr>
            <a:r>
              <a:t>10.3390/polym12051093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Article page</a:t>
            </a:r>
          </a:p>
          <a:p>
            <a:pPr>
              <a:defRPr sz="1400">
                <a:latin typeface="Arial"/>
              </a:defRPr>
            </a:pPr>
            <a:r>
              <a:t>https://www.mdpi.com/2073-4360/12/5/1093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